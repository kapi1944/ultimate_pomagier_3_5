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"/>
  </p:notesMasterIdLst>
  <p:sldIdLst>
    <p:sldId id="377" r:id="rId2"/>
  </p:sldIdLst>
  <p:sldSz cx="6858000" cy="9144000" type="screen4x3"/>
  <p:notesSz cx="6792913" cy="992505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BBB"/>
    <a:srgbClr val="4E9CCA"/>
    <a:srgbClr val="317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>
      <p:cViewPr varScale="1">
        <p:scale>
          <a:sx n="83" d="100"/>
          <a:sy n="83" d="100"/>
        </p:scale>
        <p:origin x="30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3595" cy="496253"/>
          </a:xfrm>
          <a:prstGeom prst="rect">
            <a:avLst/>
          </a:prstGeom>
        </p:spPr>
        <p:txBody>
          <a:bodyPr vert="horz" lIns="91394" tIns="45697" rIns="91394" bIns="4569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47747" y="1"/>
            <a:ext cx="2943595" cy="496253"/>
          </a:xfrm>
          <a:prstGeom prst="rect">
            <a:avLst/>
          </a:prstGeom>
        </p:spPr>
        <p:txBody>
          <a:bodyPr vert="horz" lIns="91394" tIns="45697" rIns="91394" bIns="4569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1F4BBE3-6968-47E3-9C5F-32285F924F89}" type="datetimeFigureOut">
              <a:rPr lang="pl-PL"/>
              <a:pPr>
                <a:defRPr/>
              </a:pPr>
              <a:t>13.11.2024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2001838" y="744538"/>
            <a:ext cx="27892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4" tIns="45697" rIns="91394" bIns="45697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2"/>
          </a:xfrm>
          <a:prstGeom prst="rect">
            <a:avLst/>
          </a:prstGeom>
        </p:spPr>
        <p:txBody>
          <a:bodyPr vert="horz" lIns="91394" tIns="45697" rIns="91394" bIns="45697" rtlCol="0">
            <a:normAutofit/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3595" cy="496253"/>
          </a:xfrm>
          <a:prstGeom prst="rect">
            <a:avLst/>
          </a:prstGeom>
        </p:spPr>
        <p:txBody>
          <a:bodyPr vert="horz" lIns="91394" tIns="45697" rIns="91394" bIns="4569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47747" y="9427075"/>
            <a:ext cx="2943595" cy="496253"/>
          </a:xfrm>
          <a:prstGeom prst="rect">
            <a:avLst/>
          </a:prstGeom>
        </p:spPr>
        <p:txBody>
          <a:bodyPr vert="horz" lIns="91394" tIns="45697" rIns="91394" bIns="4569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E94E2D-ACD1-47CA-99A9-68C41F98648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zkolenia-semper.pl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6C14CC-787C-4786-9614-AAC76605A52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86000" y="0"/>
            <a:ext cx="4572000" cy="914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727866" y="6950052"/>
            <a:ext cx="1956341" cy="825112"/>
          </a:xfrm>
        </p:spPr>
        <p:txBody>
          <a:bodyPr vert="horz" anchor="t">
            <a:noAutofit/>
          </a:bodyPr>
          <a:lstStyle>
            <a:lvl1pPr algn="l">
              <a:lnSpc>
                <a:spcPts val="1985"/>
              </a:lnSpc>
              <a:defRPr sz="2184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Edit </a:t>
            </a:r>
            <a:br>
              <a:rPr lang="en-US" noProof="0" dirty="0"/>
            </a:br>
            <a:r>
              <a:rPr lang="en-US" noProof="0" dirty="0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EFC47E-3E71-499D-A09B-118EC606C078}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727864" y="6033095"/>
            <a:ext cx="467591" cy="80682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89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Logo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4727866" y="8189823"/>
            <a:ext cx="1956341" cy="532947"/>
          </a:xfrm>
        </p:spPr>
        <p:txBody>
          <a:bodyPr vert="horz">
            <a:normAutofit/>
          </a:bodyPr>
          <a:lstStyle>
            <a:lvl1pPr marL="0" indent="0" algn="l">
              <a:lnSpc>
                <a:spcPct val="100000"/>
              </a:lnSpc>
              <a:buNone/>
              <a:defRPr sz="794" spc="0">
                <a:solidFill>
                  <a:srgbClr val="D4D9DD"/>
                </a:solidFill>
                <a:latin typeface="+mn-lt"/>
                <a:cs typeface="Arial" panose="020B0604020202020204" pitchFamily="34" charset="0"/>
              </a:defRPr>
            </a:lvl1pPr>
            <a:lvl2pPr marL="187218" indent="0" algn="ctr">
              <a:buNone/>
              <a:defRPr sz="819"/>
            </a:lvl2pPr>
            <a:lvl3pPr marL="374437" indent="0" algn="ctr">
              <a:buNone/>
              <a:defRPr sz="737"/>
            </a:lvl3pPr>
            <a:lvl4pPr marL="561655" indent="0" algn="ctr">
              <a:buNone/>
              <a:defRPr sz="656"/>
            </a:lvl4pPr>
            <a:lvl5pPr marL="748873" indent="0" algn="ctr">
              <a:buNone/>
              <a:defRPr sz="656"/>
            </a:lvl5pPr>
            <a:lvl6pPr marL="936092" indent="0" algn="ctr">
              <a:buNone/>
              <a:defRPr sz="656"/>
            </a:lvl6pPr>
            <a:lvl7pPr marL="1123310" indent="0" algn="ctr">
              <a:buNone/>
              <a:defRPr sz="656"/>
            </a:lvl7pPr>
            <a:lvl8pPr marL="1310528" indent="0" algn="ctr">
              <a:buNone/>
              <a:defRPr sz="656"/>
            </a:lvl8pPr>
            <a:lvl9pPr marL="1497746" indent="0" algn="ctr">
              <a:buNone/>
              <a:defRPr sz="656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5062D0-E551-4B70-86FC-990B87238C3E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155865" y="3670482"/>
            <a:ext cx="1966678" cy="315390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91">
                <a:solidFill>
                  <a:srgbClr val="344E62"/>
                </a:solidFill>
                <a:latin typeface="+mj-lt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C680E64-EAA8-41B6-AD32-23403E7666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40800" y="6872300"/>
            <a:ext cx="1972917" cy="200078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30237AA-8F30-4BF5-AD94-F15672425D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40801" y="6271559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4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BA26D5F1-56B4-4BD8-AFB3-6FF0FB9C0CCA}"/>
              </a:ext>
            </a:extLst>
          </p:cNvPr>
          <p:cNvSpPr/>
          <p:nvPr userDrawn="1"/>
        </p:nvSpPr>
        <p:spPr>
          <a:xfrm rot="16200000" flipH="1">
            <a:off x="-932368" y="923611"/>
            <a:ext cx="5430495" cy="3569588"/>
          </a:xfrm>
          <a:custGeom>
            <a:avLst/>
            <a:gdLst>
              <a:gd name="connsiteX0" fmla="*/ 0 w 5616109"/>
              <a:gd name="connsiteY0" fmla="*/ 10058400 h 10058400"/>
              <a:gd name="connsiteX1" fmla="*/ 0 w 5616109"/>
              <a:gd name="connsiteY1" fmla="*/ 0 h 10058400"/>
              <a:gd name="connsiteX2" fmla="*/ 5616109 w 5616109"/>
              <a:gd name="connsiteY2" fmla="*/ 10058400 h 10058400"/>
              <a:gd name="connsiteX3" fmla="*/ 0 w 5616109"/>
              <a:gd name="connsiteY3" fmla="*/ 10058400 h 10058400"/>
              <a:gd name="connsiteX0" fmla="*/ 0 w 7754628"/>
              <a:gd name="connsiteY0" fmla="*/ 10058400 h 10058400"/>
              <a:gd name="connsiteX1" fmla="*/ 0 w 7754628"/>
              <a:gd name="connsiteY1" fmla="*/ 0 h 10058400"/>
              <a:gd name="connsiteX2" fmla="*/ 7754628 w 7754628"/>
              <a:gd name="connsiteY2" fmla="*/ 10014158 h 10058400"/>
              <a:gd name="connsiteX3" fmla="*/ 0 w 7754628"/>
              <a:gd name="connsiteY3" fmla="*/ 10058400 h 10058400"/>
              <a:gd name="connsiteX0" fmla="*/ 0 w 7831393"/>
              <a:gd name="connsiteY0" fmla="*/ 10058400 h 10058400"/>
              <a:gd name="connsiteX1" fmla="*/ 0 w 7831393"/>
              <a:gd name="connsiteY1" fmla="*/ 0 h 10058400"/>
              <a:gd name="connsiteX2" fmla="*/ 7831393 w 7831393"/>
              <a:gd name="connsiteY2" fmla="*/ 10043651 h 10058400"/>
              <a:gd name="connsiteX3" fmla="*/ 0 w 7831393"/>
              <a:gd name="connsiteY3" fmla="*/ 10058400 h 10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1393" h="10058400">
                <a:moveTo>
                  <a:pt x="0" y="10058400"/>
                </a:moveTo>
                <a:lnTo>
                  <a:pt x="0" y="0"/>
                </a:lnTo>
                <a:lnTo>
                  <a:pt x="7831393" y="10043651"/>
                </a:lnTo>
                <a:lnTo>
                  <a:pt x="0" y="100584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>
              <a:solidFill>
                <a:srgbClr val="4159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34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616BF20-DB36-4475-A8CB-DFE1AD3F7B70}"/>
              </a:ext>
            </a:extLst>
          </p:cNvPr>
          <p:cNvSpPr/>
          <p:nvPr userDrawn="1"/>
        </p:nvSpPr>
        <p:spPr>
          <a:xfrm>
            <a:off x="0" y="31439"/>
            <a:ext cx="6858000" cy="92906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9BDADD7-7425-49DD-8799-1A4E73DF17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49" y="167825"/>
            <a:ext cx="1456809" cy="656305"/>
          </a:xfrm>
          <a:prstGeom prst="rect">
            <a:avLst/>
          </a:prstGeom>
        </p:spPr>
      </p:pic>
      <p:sp>
        <p:nvSpPr>
          <p:cNvPr id="16" name="Prostokąt 15">
            <a:extLst>
              <a:ext uri="{FF2B5EF4-FFF2-40B4-BE49-F238E27FC236}">
                <a16:creationId xmlns:a16="http://schemas.microsoft.com/office/drawing/2014/main" id="{1974E5CC-D812-42F9-AF7D-B5F3607B39C4}"/>
              </a:ext>
            </a:extLst>
          </p:cNvPr>
          <p:cNvSpPr/>
          <p:nvPr userDrawn="1"/>
        </p:nvSpPr>
        <p:spPr>
          <a:xfrm>
            <a:off x="0" y="8342414"/>
            <a:ext cx="6858000" cy="770149"/>
          </a:xfrm>
          <a:prstGeom prst="rect">
            <a:avLst/>
          </a:prstGeom>
          <a:gradFill flip="none" rotWithShape="1">
            <a:gsLst>
              <a:gs pos="0">
                <a:srgbClr val="D9D9D9">
                  <a:shade val="30000"/>
                  <a:satMod val="115000"/>
                </a:srgbClr>
              </a:gs>
              <a:gs pos="50000">
                <a:srgbClr val="D9D9D9">
                  <a:shade val="67500"/>
                  <a:satMod val="115000"/>
                </a:srgbClr>
              </a:gs>
              <a:gs pos="100000">
                <a:srgbClr val="D9D9D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2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46F9C6A-8175-4059-AE69-A46D30510EB0}"/>
              </a:ext>
            </a:extLst>
          </p:cNvPr>
          <p:cNvSpPr txBox="1"/>
          <p:nvPr userDrawn="1"/>
        </p:nvSpPr>
        <p:spPr>
          <a:xfrm>
            <a:off x="0" y="8541671"/>
            <a:ext cx="68580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b="1" dirty="0">
                <a:solidFill>
                  <a:schemeClr val="tx1"/>
                </a:solidFill>
              </a:rPr>
              <a:t>Centrum Organizacji Szkoleń i Konferencji SEMPER i Międzynarodowy Instytut Szkoleń Specjalistycznych IIST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0B2C4A1F-EEF9-45FD-9CEE-D758FA4416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71489" y="125930"/>
            <a:ext cx="593664" cy="74008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9BCB7A4-0948-438E-9DD5-654BEF51D39A}"/>
              </a:ext>
            </a:extLst>
          </p:cNvPr>
          <p:cNvSpPr txBox="1"/>
          <p:nvPr userDrawn="1"/>
        </p:nvSpPr>
        <p:spPr>
          <a:xfrm>
            <a:off x="6468321" y="8541671"/>
            <a:ext cx="38968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AD1E60B-E24F-4AAD-A476-82FAE2B59C3F}" type="slidenum">
              <a:rPr lang="pl-PL" sz="893" smtClean="0">
                <a:solidFill>
                  <a:srgbClr val="344E62"/>
                </a:solidFill>
              </a:rPr>
              <a:t>‹#›</a:t>
            </a:fld>
            <a:endParaRPr lang="pl-PL" sz="893" dirty="0">
              <a:solidFill>
                <a:srgbClr val="344E62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09D4B78-31EC-47C4-8862-4A686ABBEC6D}"/>
              </a:ext>
            </a:extLst>
          </p:cNvPr>
          <p:cNvSpPr txBox="1"/>
          <p:nvPr userDrawn="1"/>
        </p:nvSpPr>
        <p:spPr>
          <a:xfrm>
            <a:off x="2676051" y="278718"/>
            <a:ext cx="15059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dirty="0">
                <a:solidFill>
                  <a:srgbClr val="344E6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pl-PL" sz="893" dirty="0">
              <a:solidFill>
                <a:srgbClr val="344E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3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E3008-4938-473C-ABBE-CB1128CE8868}"/>
              </a:ext>
            </a:extLst>
          </p:cNvPr>
          <p:cNvSpPr/>
          <p:nvPr userDrawn="1"/>
        </p:nvSpPr>
        <p:spPr>
          <a:xfrm>
            <a:off x="4572000" y="4572000"/>
            <a:ext cx="22860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864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6AE19FFF-9A53-44FA-9587-6A53CD56CF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19043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9472BAF-2E41-4B81-B680-FB2A7AABF3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19044" y="534726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bg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73524" y="1167232"/>
            <a:ext cx="1961147" cy="3238081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7993" y="609960"/>
            <a:ext cx="1954945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50594-58FC-4CC6-96FC-190BB9A067F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2000" y="3"/>
            <a:ext cx="2278026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D7476E-EDF5-4CE8-8C32-1E82D1530A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" y="1"/>
            <a:ext cx="2288165" cy="45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8ED93851-8D31-45AB-A726-D5C3546F393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290764" y="4586947"/>
            <a:ext cx="2281238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327553-3280-4A36-BE81-D7D188CF7C45}"/>
              </a:ext>
            </a:extLst>
          </p:cNvPr>
          <p:cNvCxnSpPr>
            <a:cxnSpLocks/>
          </p:cNvCxnSpPr>
          <p:nvPr userDrawn="1"/>
        </p:nvCxnSpPr>
        <p:spPr>
          <a:xfrm>
            <a:off x="2467992" y="42832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BE30A8-DA5C-4AD7-879F-19D0C015D19F}"/>
              </a:ext>
            </a:extLst>
          </p:cNvPr>
          <p:cNvCxnSpPr>
            <a:cxnSpLocks/>
          </p:cNvCxnSpPr>
          <p:nvPr userDrawn="1"/>
        </p:nvCxnSpPr>
        <p:spPr>
          <a:xfrm>
            <a:off x="186922" y="4998572"/>
            <a:ext cx="74340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7D497F-F255-4310-A2D3-8EE9619CE469}"/>
              </a:ext>
            </a:extLst>
          </p:cNvPr>
          <p:cNvCxnSpPr>
            <a:cxnSpLocks/>
          </p:cNvCxnSpPr>
          <p:nvPr userDrawn="1"/>
        </p:nvCxnSpPr>
        <p:spPr>
          <a:xfrm>
            <a:off x="4719043" y="5044676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0">
            <a:extLst>
              <a:ext uri="{FF2B5EF4-FFF2-40B4-BE49-F238E27FC236}">
                <a16:creationId xmlns:a16="http://schemas.microsoft.com/office/drawing/2014/main" id="{A23AF9C2-1B51-41F0-ACC1-0D15C1CA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58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F3B28-DA6D-41A6-B09A-64CD3E1AEE3C}"/>
              </a:ext>
            </a:extLst>
          </p:cNvPr>
          <p:cNvSpPr/>
          <p:nvPr userDrawn="1"/>
        </p:nvSpPr>
        <p:spPr>
          <a:xfrm>
            <a:off x="1" y="4362836"/>
            <a:ext cx="2296759" cy="4781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C93BF-C6A4-4E99-99BF-433F20567CEB}"/>
              </a:ext>
            </a:extLst>
          </p:cNvPr>
          <p:cNvCxnSpPr>
            <a:cxnSpLocks/>
          </p:cNvCxnSpPr>
          <p:nvPr userDrawn="1"/>
        </p:nvCxnSpPr>
        <p:spPr>
          <a:xfrm>
            <a:off x="2453318" y="42245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4BE154-1A57-41C8-98F7-B306B0633269}"/>
              </a:ext>
            </a:extLst>
          </p:cNvPr>
          <p:cNvCxnSpPr>
            <a:cxnSpLocks/>
          </p:cNvCxnSpPr>
          <p:nvPr userDrawn="1"/>
        </p:nvCxnSpPr>
        <p:spPr>
          <a:xfrm>
            <a:off x="161396" y="4781168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220" y="6166398"/>
            <a:ext cx="1972917" cy="270866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53319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53319" y="47638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 spc="-74">
                <a:solidFill>
                  <a:srgbClr val="192B39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A9B7EA-307F-4603-8797-88D7DDB5ACF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286000" y="4362842"/>
            <a:ext cx="4572000" cy="47811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BD9585-8304-4806-9CA5-ED4FC5E42E0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8524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C268B-62A3-4F20-932E-CA482ACE40C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0" y="0"/>
            <a:ext cx="2286000" cy="4362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0" name="Title 30">
            <a:extLst>
              <a:ext uri="{FF2B5EF4-FFF2-40B4-BE49-F238E27FC236}">
                <a16:creationId xmlns:a16="http://schemas.microsoft.com/office/drawing/2014/main" id="{819C5DD9-21EA-47BA-9470-5EBDD6EC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6" y="268943"/>
            <a:ext cx="6546272" cy="1766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865" y="2780930"/>
            <a:ext cx="6546272" cy="609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0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</p:sldLayoutIdLst>
  <p:hf sldNum="0" hdr="0" ftr="0" dt="0"/>
  <p:txStyles>
    <p:titleStyle>
      <a:lvl1pPr algn="l" defTabSz="453863" rtl="0" eaLnBrk="1" latinLnBrk="0" hangingPunct="1">
        <a:lnSpc>
          <a:spcPct val="90000"/>
        </a:lnSpc>
        <a:spcBef>
          <a:spcPct val="0"/>
        </a:spcBef>
        <a:buNone/>
        <a:defRPr sz="2184" kern="1200">
          <a:solidFill>
            <a:schemeClr val="tx1"/>
          </a:solidFill>
          <a:latin typeface="Georgia Pro Cond Light" panose="02040306050405020303" pitchFamily="18" charset="0"/>
          <a:ea typeface="+mj-ea"/>
          <a:cs typeface="+mj-cs"/>
        </a:defRPr>
      </a:lvl1pPr>
    </p:titleStyle>
    <p:bodyStyle>
      <a:lvl1pPr marL="113465" indent="-113465" algn="l" defTabSz="453863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1pPr>
      <a:lvl2pPr marL="340397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2pPr>
      <a:lvl3pPr marL="567328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794259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1021190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475053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701984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928915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1pPr>
      <a:lvl2pPr marL="226931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2pPr>
      <a:lvl3pPr marL="453863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680794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907725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134656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361588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588519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81545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76" userDrawn="1">
          <p15:clr>
            <a:srgbClr val="F26B43"/>
          </p15:clr>
        </p15:guide>
        <p15:guide id="3" pos="4352" userDrawn="1">
          <p15:clr>
            <a:srgbClr val="F26B43"/>
          </p15:clr>
        </p15:guide>
        <p15:guide id="4" pos="149" userDrawn="1">
          <p15:clr>
            <a:srgbClr val="5ACBF0"/>
          </p15:clr>
        </p15:guide>
        <p15:guide id="6" pos="6380" userDrawn="1">
          <p15:clr>
            <a:srgbClr val="5ACBF0"/>
          </p15:clr>
        </p15:guide>
        <p15:guide id="8" orient="horz" pos="192" userDrawn="1">
          <p15:clr>
            <a:srgbClr val="5ACBF0"/>
          </p15:clr>
        </p15:guide>
        <p15:guide id="9" orient="horz" pos="6336" userDrawn="1">
          <p15:clr>
            <a:srgbClr val="5ACBF0"/>
          </p15:clr>
        </p15:guide>
        <p15:guide id="10" pos="2028" userDrawn="1">
          <p15:clr>
            <a:srgbClr val="5ACBF0"/>
          </p15:clr>
        </p15:guide>
        <p15:guide id="11" pos="2324" userDrawn="1">
          <p15:clr>
            <a:srgbClr val="5ACBF0"/>
          </p15:clr>
        </p15:guide>
        <p15:guide id="12" pos="4204" userDrawn="1">
          <p15:clr>
            <a:srgbClr val="5ACBF0"/>
          </p15:clr>
        </p15:guide>
        <p15:guide id="13" pos="450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hyperlink" Target="http://www.szkolenia-semer.pl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hyperlink" Target="mailto:r.bartkowski@szkolenia-semper.pl" TargetMode="External"/><Relationship Id="rId9" Type="http://schemas.openxmlformats.org/officeDocument/2006/relationships/hyperlink" Target="mailto:info@szkolenia-semper.p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9D9D9"/>
            </a:gs>
            <a:gs pos="86000">
              <a:schemeClr val="accent2">
                <a:lumMod val="45000"/>
                <a:lumOff val="55000"/>
              </a:schemeClr>
            </a:gs>
            <a:gs pos="9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F8EB5B82-ADA4-4364-9358-F40C078F657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452979" y="3644715"/>
            <a:ext cx="3327519" cy="3857625"/>
          </a:xfrm>
        </p:spPr>
      </p:pic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A8BE5986-EF42-446D-8022-CA76A872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63946" y="4184114"/>
            <a:ext cx="3318226" cy="3318226"/>
          </a:xfrm>
          <a:prstGeom prst="rt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3642C65B-7AA4-4A98-A1D4-B9F952E25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822353" y="5543030"/>
            <a:ext cx="1585302" cy="2322364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13A1700-9144-4DF3-BD16-61A4457A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155267" y="4872849"/>
            <a:ext cx="2624014" cy="2624014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B0BF5-DED9-48AD-B791-79451DBD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0303" y="5950858"/>
            <a:ext cx="1283073" cy="340379"/>
          </a:xfrm>
        </p:spPr>
        <p:txBody>
          <a:bodyPr/>
          <a:lstStyle/>
          <a:p>
            <a:pPr algn="r"/>
            <a:r>
              <a:rPr lang="pl-PL" sz="1786" b="0" spc="-74" dirty="0">
                <a:ea typeface="HGPMinchoE" panose="020B0400000000000000" pitchFamily="18" charset="-128"/>
                <a:cs typeface="Narkisim" panose="020B0604020202020204" pitchFamily="34" charset="-79"/>
              </a:rPr>
              <a:t>SEMPER</a:t>
            </a:r>
            <a:endParaRPr lang="en-US" sz="1786" b="0" spc="-74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29094A9-C588-4F46-BFE7-86B912DC1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004" y="6225310"/>
            <a:ext cx="1436168" cy="467019"/>
          </a:xfrm>
        </p:spPr>
        <p:txBody>
          <a:bodyPr>
            <a:normAutofit/>
          </a:bodyPr>
          <a:lstStyle/>
          <a:p>
            <a:pPr algn="r"/>
            <a:r>
              <a:rPr lang="pl-PL" sz="695" dirty="0">
                <a:cs typeface="Calibri" panose="020F0502020204030204" pitchFamily="34" charset="0"/>
              </a:rPr>
              <a:t>Centrum Organizacji </a:t>
            </a:r>
          </a:p>
          <a:p>
            <a:pPr algn="r"/>
            <a:r>
              <a:rPr lang="pl-PL" sz="695" dirty="0">
                <a:cs typeface="Calibri" panose="020F0502020204030204" pitchFamily="34" charset="0"/>
              </a:rPr>
              <a:t>Szkoleń i Konferencji</a:t>
            </a:r>
            <a:endParaRPr lang="en-US" sz="695" dirty="0">
              <a:cs typeface="Calibri" panose="020F0502020204030204" pitchFamily="34" charset="0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8931FD2-49CD-4299-8D87-F5EB36942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716" y="3563888"/>
            <a:ext cx="3448804" cy="462075"/>
          </a:xfrm>
        </p:spPr>
        <p:txBody>
          <a:bodyPr>
            <a:normAutofit fontScale="92500"/>
          </a:bodyPr>
          <a:lstStyle/>
          <a:p>
            <a:pPr defTabSz="605150">
              <a:defRPr/>
            </a:pPr>
            <a:r>
              <a:rPr lang="pl-PL" sz="1600"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19 – 20 listopada 2024 r. | Warszawa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A6612F-B81F-41BF-B027-EEE273D89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3285" y="6758623"/>
            <a:ext cx="510555" cy="180889"/>
          </a:xfrm>
        </p:spPr>
        <p:txBody>
          <a:bodyPr vert="horz" lIns="0" tIns="22692" rIns="0" bIns="22692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695" dirty="0">
                <a:solidFill>
                  <a:schemeClr val="bg1"/>
                </a:solidFill>
                <a:cs typeface="Arial"/>
              </a:rPr>
              <a:t>508 393 926 </a:t>
            </a:r>
            <a:endParaRPr lang="en-US" sz="695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C8A3C-B58D-40B0-B2C1-19E187171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7259" y="4130839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42D79-BFBC-43F9-A2EF-C6FC4142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9496" y="5106083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B48A58-26CD-48F4-A0B0-DE7D3C692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90763" y="6638376"/>
            <a:ext cx="99560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DE7F5C52-4EBD-4EE5-91AD-AF1C25B5A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91" y="352251"/>
            <a:ext cx="4599180" cy="1152312"/>
          </a:xfrm>
          <a:prstGeom prst="rect">
            <a:avLst/>
          </a:prstGeom>
        </p:spPr>
      </p:pic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12FF8141-44F2-462C-9203-B91FDD4DAC26}"/>
              </a:ext>
            </a:extLst>
          </p:cNvPr>
          <p:cNvSpPr txBox="1">
            <a:spLocks/>
          </p:cNvSpPr>
          <p:nvPr/>
        </p:nvSpPr>
        <p:spPr>
          <a:xfrm>
            <a:off x="41304" y="4169979"/>
            <a:ext cx="3392480" cy="889372"/>
          </a:xfrm>
          <a:prstGeom prst="rect">
            <a:avLst/>
          </a:prstGeom>
        </p:spPr>
        <p:txBody>
          <a:bodyPr vert="horz" lIns="45384" tIns="22692" rIns="45384" bIns="22692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  <a:t>Ekspert Merytoryczny:</a:t>
            </a:r>
          </a:p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  <a:t>Robert Bartkowski</a:t>
            </a:r>
          </a:p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  <a:hlinkClick r:id="rId4"/>
              </a:rPr>
              <a:t>r.bartkowski@szkolenia-semper.p</a:t>
            </a:r>
            <a:r>
              <a:rPr lang="pl-PL" sz="1400" dirty="0">
                <a:latin typeface="Book Antiqua" panose="02040602050305030304" pitchFamily="18" charset="0"/>
                <a:cs typeface="Calibri"/>
                <a:sym typeface="Verdana"/>
                <a:hlinkClick r:id="rId4"/>
              </a:rPr>
              <a:t>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cs typeface="Calibri"/>
              <a:sym typeface="Verdana"/>
            </a:endParaRPr>
          </a:p>
        </p:txBody>
      </p:sp>
      <p:pic>
        <p:nvPicPr>
          <p:cNvPr id="23" name="Graphic 13" descr="Smart Phone" title="Icon - Presenter Phone Number">
            <a:extLst>
              <a:ext uri="{FF2B5EF4-FFF2-40B4-BE49-F238E27FC236}">
                <a16:creationId xmlns:a16="http://schemas.microsoft.com/office/drawing/2014/main" id="{6A4EC68A-6882-42E7-A950-6633A81F64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5522086" y="6746280"/>
            <a:ext cx="194573" cy="194573"/>
          </a:xfrm>
          <a:prstGeom prst="rect">
            <a:avLst/>
          </a:prstGeom>
        </p:spPr>
      </p:pic>
      <p:pic>
        <p:nvPicPr>
          <p:cNvPr id="25" name="Graphic 12" descr="Envelope" title="Icon Presenter Email">
            <a:extLst>
              <a:ext uri="{FF2B5EF4-FFF2-40B4-BE49-F238E27FC236}">
                <a16:creationId xmlns:a16="http://schemas.microsoft.com/office/drawing/2014/main" id="{B2B71447-027F-40EF-A5D0-A16927727DF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5522086" y="6999915"/>
            <a:ext cx="194573" cy="194573"/>
          </a:xfrm>
          <a:prstGeom prst="rect">
            <a:avLst/>
          </a:prstGeom>
        </p:spPr>
      </p:pic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6221C34E-7E30-4A2F-B161-903A849955AB}"/>
              </a:ext>
            </a:extLst>
          </p:cNvPr>
          <p:cNvSpPr txBox="1">
            <a:spLocks/>
          </p:cNvSpPr>
          <p:nvPr/>
        </p:nvSpPr>
        <p:spPr>
          <a:xfrm>
            <a:off x="5737069" y="7043906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pic>
        <p:nvPicPr>
          <p:cNvPr id="28" name="Graphic 14" descr="Link">
            <a:extLst>
              <a:ext uri="{FF2B5EF4-FFF2-40B4-BE49-F238E27FC236}">
                <a16:creationId xmlns:a16="http://schemas.microsoft.com/office/drawing/2014/main" id="{572826C3-BE4E-4E93-A93D-2329A793CF3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gray">
          <a:xfrm>
            <a:off x="5522088" y="7238745"/>
            <a:ext cx="214984" cy="214984"/>
          </a:xfrm>
          <a:prstGeom prst="rect">
            <a:avLst/>
          </a:prstGeom>
        </p:spPr>
      </p:pic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86981B4D-4CF2-432E-9BB7-97EFBAAC63EF}"/>
              </a:ext>
            </a:extLst>
          </p:cNvPr>
          <p:cNvSpPr txBox="1">
            <a:spLocks/>
          </p:cNvSpPr>
          <p:nvPr/>
        </p:nvSpPr>
        <p:spPr>
          <a:xfrm>
            <a:off x="5690547" y="7266647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1E698BD8-3E5D-43CE-9E62-B80E9AAFEFA4}"/>
              </a:ext>
            </a:extLst>
          </p:cNvPr>
          <p:cNvSpPr txBox="1"/>
          <p:nvPr/>
        </p:nvSpPr>
        <p:spPr>
          <a:xfrm>
            <a:off x="202956" y="8596026"/>
            <a:ext cx="646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b="1" dirty="0">
                <a:solidFill>
                  <a:srgbClr val="344E62"/>
                </a:solidFill>
                <a:latin typeface="Univers"/>
                <a:ea typeface="Verdana"/>
                <a:cs typeface="+mn-cs"/>
                <a:sym typeface="Verdana"/>
              </a:rPr>
              <a:t>Niniejsze materiały szkoleniowe stanowią własność intelektualną Centrum Organizacji Szkoleń i Konferencji SEMPER lub osób trzecich, w których imieniu Centrum Organizacji Szkoleń i Konferencji SEMPER występuje. Materiał jest poufny i podlega ochronie prawem autorskim. Kopiowanie, przekazywanie osobom trzecim oraz wykorzystanie niezgodne z intencją organizatora szkolenia jest zabronione i stanowi naruszenie prawa.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CAD1B4D1-E9B5-1C96-D979-6699F4FCC126}"/>
              </a:ext>
            </a:extLst>
          </p:cNvPr>
          <p:cNvSpPr txBox="1">
            <a:spLocks/>
          </p:cNvSpPr>
          <p:nvPr/>
        </p:nvSpPr>
        <p:spPr>
          <a:xfrm>
            <a:off x="332656" y="1622662"/>
            <a:ext cx="6192688" cy="17029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0" indent="0" algn="ctr" defTabSz="60515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8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45386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643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5901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6158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16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673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931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7188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4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„Zamówienia publiczne w praktyce dla zaawansowanych - zamówienia w dziedzinach obronności</a:t>
            </a:r>
            <a:b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</a:b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i bezpieczeństwa, prawidłowe przeprowadzenie postępowania o udzielenie zamówienia klasycznego</a:t>
            </a:r>
            <a:b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</a:b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o wartości mniejszej niż progi unijne oraz</a:t>
            </a:r>
            <a:b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</a:b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o wartości  równej lub przekraczającej progi unijne”</a:t>
            </a:r>
            <a:endParaRPr kumimoji="0" lang="en-US" altLang="pl-PL" sz="1800" b="1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5846CBA-4002-0F92-405A-4A1D0E52B97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2" y="5284066"/>
            <a:ext cx="1602283" cy="1869330"/>
          </a:xfrm>
          <a:prstGeom prst="rect">
            <a:avLst/>
          </a:prstGeom>
        </p:spPr>
      </p:pic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9649646B-2464-7AD3-1E6A-2A3A4EC0B423}"/>
              </a:ext>
            </a:extLst>
          </p:cNvPr>
          <p:cNvSpPr txBox="1">
            <a:spLocks/>
          </p:cNvSpPr>
          <p:nvPr/>
        </p:nvSpPr>
        <p:spPr>
          <a:xfrm>
            <a:off x="237681" y="7210075"/>
            <a:ext cx="3066366" cy="348008"/>
          </a:xfrm>
          <a:prstGeom prst="rect">
            <a:avLst/>
          </a:prstGeom>
        </p:spPr>
        <p:txBody>
          <a:bodyPr lIns="60512" tIns="30256" rIns="60512" bIns="30256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5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/>
                <a:sym typeface="Verdana"/>
              </a:rPr>
              <a:t>Sprawdź naszą aktualną ofertę!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178106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ustom 8">
      <a:dk1>
        <a:srgbClr val="344E62"/>
      </a:dk1>
      <a:lt1>
        <a:srgbClr val="FFFFFF"/>
      </a:lt1>
      <a:dk2>
        <a:srgbClr val="000000"/>
      </a:dk2>
      <a:lt2>
        <a:srgbClr val="FFFFFF"/>
      </a:lt2>
      <a:accent1>
        <a:srgbClr val="344E62"/>
      </a:accent1>
      <a:accent2>
        <a:srgbClr val="D4D9DD"/>
      </a:accent2>
      <a:accent3>
        <a:srgbClr val="617483"/>
      </a:accent3>
      <a:accent4>
        <a:srgbClr val="FFFFFF"/>
      </a:accent4>
      <a:accent5>
        <a:srgbClr val="FFFFFF"/>
      </a:accent5>
      <a:accent6>
        <a:srgbClr val="FFFFFF"/>
      </a:accent6>
      <a:hlink>
        <a:srgbClr val="344E62"/>
      </a:hlink>
      <a:folHlink>
        <a:srgbClr val="617483"/>
      </a:folHlink>
    </a:clrScheme>
    <a:fontScheme name="Custom 18">
      <a:majorFont>
        <a:latin typeface="Bodoni MT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44704734_win32_fixed.potx" id="{4A4FDEFC-D6EA-49B4-8BA4-CFF02523CA31}" vid="{8401B175-3B73-4215-A0DB-A3DFAB7D511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10579</TotalTime>
  <Words>140</Words>
  <Application>Microsoft Office PowerPoint</Application>
  <PresentationFormat>Pokaz na ekranie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9" baseType="lpstr">
      <vt:lpstr>HGPMinchoE</vt:lpstr>
      <vt:lpstr>Arial</vt:lpstr>
      <vt:lpstr>Avenir Next LT Pro</vt:lpstr>
      <vt:lpstr>Book Antiqua</vt:lpstr>
      <vt:lpstr>Calibri</vt:lpstr>
      <vt:lpstr>Georgia Pro Cond Light</vt:lpstr>
      <vt:lpstr>Univers</vt:lpstr>
      <vt:lpstr>3_Custom Design</vt:lpstr>
      <vt:lpstr>SEMPER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"Nowelizacja prawa zamówień publicznych z dnia 22 czerwca 2016 roku - aspekty praktyczne"</dc:title>
  <dc:creator>Monika Kokosińska</dc:creator>
  <cp:lastModifiedBy>Centrum Semper</cp:lastModifiedBy>
  <cp:revision>558</cp:revision>
  <cp:lastPrinted>2024-11-13T10:26:58Z</cp:lastPrinted>
  <dcterms:created xsi:type="dcterms:W3CDTF">2016-08-05T10:42:23Z</dcterms:created>
  <dcterms:modified xsi:type="dcterms:W3CDTF">2024-11-13T10:27:29Z</dcterms:modified>
</cp:coreProperties>
</file>